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D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2E8B8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1478012"/>
            <a:ext cx="803168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Vietnamese GraphRAG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34901" y="2074813"/>
            <a:ext cx="803168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0"/>
              </a:spcAft>
              <a:buNone/>
            </a:pPr>
            <a:r>
              <a:rPr lang="en-US" sz="2000" dirty="0">
                <a:solidFill>
                  <a:srgbClr val="7E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Multi-hop Question Answering over Wikipedia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34901" y="2751088"/>
            <a:ext cx="80316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7E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Capstone Review 1</a:t>
            </a:r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FPT University SE+AI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34901" y="2979688"/>
            <a:ext cx="80316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7E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</a:t>
            </a:r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Huynh Quoc Trung, Nhu Quang Anh, Pham Ngo Dinh Khoi, Truong Dinh Thien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4901" y="3208288"/>
            <a:ext cx="80316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7E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ID:</a:t>
            </a:r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QE180038, QE180005, QE180110, QE180018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4901" y="3436888"/>
            <a:ext cx="80316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7E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Date:</a:t>
            </a:r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Week 4 — 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80877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Problem Statement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7950" y="762000"/>
            <a:ext cx="8128099" cy="698302"/>
          </a:xfrm>
          <a:prstGeom prst="rect">
            <a:avLst/>
          </a:prstGeom>
          <a:solidFill>
            <a:srgbClr val="E8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6525" y="762000"/>
            <a:ext cx="0" cy="698302"/>
          </a:xfrm>
          <a:prstGeom prst="line">
            <a:avLst/>
          </a:prstGeom>
          <a:noFill/>
          <a:ln w="57150">
            <a:solidFill>
              <a:srgbClr val="2E8B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9001" y="939701"/>
            <a:ext cx="771441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questions</a:t>
            </a:r>
            <a:pPr algn="l" indent="0" marL="0">
              <a:buNone/>
            </a:pPr>
            <a:r>
              <a:rPr lang="en-US" sz="12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about Vietnamese history, geography, and people often </a:t>
            </a:r>
            <a:pPr algn="l" indent="0" marL="0">
              <a:buNone/>
            </a:pPr>
            <a:r>
              <a:rPr lang="en-US" sz="12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span multiple Wikipedia articles</a:t>
            </a:r>
            <a:pPr algn="l" indent="0" marL="0">
              <a:buNone/>
            </a:pPr>
            <a:r>
              <a:rPr lang="en-US" sz="12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impossible to answer with a single search.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7950" y="1663452"/>
            <a:ext cx="8128099" cy="355402"/>
          </a:xfrm>
          <a:prstGeom prst="rect">
            <a:avLst/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0350" y="1764953"/>
            <a:ext cx="20725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97101" y="1764953"/>
            <a:ext cx="55962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7950" y="2404318"/>
            <a:ext cx="8128099" cy="0"/>
          </a:xfrm>
          <a:prstGeom prst="line">
            <a:avLst/>
          </a:prstGeom>
          <a:noFill/>
          <a:ln w="9525">
            <a:solidFill>
              <a:srgbClr val="DDE3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0350" y="2145655"/>
            <a:ext cx="20725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/ researchers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97101" y="2145655"/>
            <a:ext cx="55962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read 5-10 articles to synthesize an answer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7950" y="2794546"/>
            <a:ext cx="8128099" cy="0"/>
          </a:xfrm>
          <a:prstGeom prst="line">
            <a:avLst/>
          </a:prstGeom>
          <a:noFill/>
          <a:ln w="9525">
            <a:solidFill>
              <a:srgbClr val="DDE3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0350" y="2535882"/>
            <a:ext cx="20725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RAG systems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97101" y="2535882"/>
            <a:ext cx="55962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retrieves nearest chunk — loses multi-hop links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7950" y="3184773"/>
            <a:ext cx="8128099" cy="0"/>
          </a:xfrm>
          <a:prstGeom prst="line">
            <a:avLst/>
          </a:prstGeom>
          <a:noFill/>
          <a:ln w="9525">
            <a:solidFill>
              <a:srgbClr val="DDE3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0350" y="2926110"/>
            <a:ext cx="20725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Vanilla LLMs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997101" y="2926110"/>
            <a:ext cx="55962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Hallucinate Vietnamese facts, no verifiable citations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7950" y="3392686"/>
            <a:ext cx="8128099" cy="476250"/>
          </a:xfrm>
          <a:prstGeom prst="rect">
            <a:avLst/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61851" y="3545086"/>
            <a:ext cx="777270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</a:t>
            </a:r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Build a fully local Vietnamese KGQA system that answers multi-hop questions with validated citations.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80877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Users &amp; Practical Applicability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7950" y="762000"/>
            <a:ext cx="398988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User Groups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1123950"/>
            <a:ext cx="3911650" cy="1376363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FPT / HUST / UIT students</a:t>
            </a:r>
            <a:pPr algn="l" indent="0" marL="0">
              <a:lnSpc>
                <a:spcPts val="154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academic knowledge lookup in Vietnamese</a:t>
            </a:r>
            <a:endParaRPr lang="en-US" sz="1100" dirty="0"/>
          </a:p>
          <a:p>
            <a:pPr algn="l" marL="101600" indent="-101600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Researchers / journalists</a:t>
            </a:r>
            <a:pPr algn="l" indent="0" marL="0">
              <a:lnSpc>
                <a:spcPts val="154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synthesize from Vietnamese Wikipedia sources</a:t>
            </a:r>
            <a:endParaRPr lang="en-US" sz="1100" dirty="0"/>
          </a:p>
          <a:p>
            <a:pPr algn="l" marL="101600" indent="-101600">
              <a:lnSpc>
                <a:spcPts val="154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developers</a:t>
            </a:r>
            <a:pPr algn="l" indent="0" marL="0">
              <a:lnSpc>
                <a:spcPts val="154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integrate into their own Vietnamese RAG pipelines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24400" y="762000"/>
            <a:ext cx="398988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24400" y="1123950"/>
            <a:ext cx="3911650" cy="304800"/>
          </a:xfrm>
          <a:prstGeom prst="rect">
            <a:avLst/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51350" y="1200150"/>
            <a:ext cx="12953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75202" y="1200150"/>
            <a:ext cx="217657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24400" y="1763613"/>
            <a:ext cx="3911650" cy="0"/>
          </a:xfrm>
          <a:prstGeom prst="line">
            <a:avLst/>
          </a:prstGeom>
          <a:noFill/>
          <a:ln w="9525">
            <a:solidFill>
              <a:srgbClr val="DDE3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51350" y="1530251"/>
            <a:ext cx="12953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users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75202" y="1530251"/>
            <a:ext cx="217657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FPT University students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24400" y="2103239"/>
            <a:ext cx="3911650" cy="0"/>
          </a:xfrm>
          <a:prstGeom prst="line">
            <a:avLst/>
          </a:prstGeom>
          <a:noFill/>
          <a:ln w="9525">
            <a:solidFill>
              <a:srgbClr val="DDE3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51350" y="1869877"/>
            <a:ext cx="12953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75202" y="1869877"/>
            <a:ext cx="217657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 + committee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24400" y="2442865"/>
            <a:ext cx="3911650" cy="0"/>
          </a:xfrm>
          <a:prstGeom prst="line">
            <a:avLst/>
          </a:prstGeom>
          <a:noFill/>
          <a:ln w="9525">
            <a:solidFill>
              <a:srgbClr val="DDE3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51350" y="2209502"/>
            <a:ext cx="12953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75202" y="2209502"/>
            <a:ext cx="217657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ViWiki-MHR (CC-BY-SA)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80877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Innovation &amp; New Technology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7950" y="762000"/>
            <a:ext cx="8128099" cy="381000"/>
          </a:xfrm>
          <a:prstGeom prst="rect">
            <a:avLst/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60350" y="876300"/>
            <a:ext cx="2331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51150" y="876300"/>
            <a:ext cx="53371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7950" y="1168301"/>
            <a:ext cx="8128099" cy="5429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07950" y="1706463"/>
            <a:ext cx="8128099" cy="0"/>
          </a:xfrm>
          <a:prstGeom prst="line">
            <a:avLst/>
          </a:prstGeom>
          <a:noFill/>
          <a:ln w="9525">
            <a:solidFill>
              <a:srgbClr val="DDE3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0350" y="1282601"/>
            <a:ext cx="2331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WRRF Hybrid Retrieval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51150" y="1282601"/>
            <a:ext cx="533714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BM25 + Vector + Graph + Community — no Vietnamese QA system uses all 4 signals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7950" y="1736527"/>
            <a:ext cx="8128099" cy="3905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07950" y="2122289"/>
            <a:ext cx="8128099" cy="0"/>
          </a:xfrm>
          <a:prstGeom prst="line">
            <a:avLst/>
          </a:prstGeom>
          <a:noFill/>
          <a:ln w="9525">
            <a:solidFill>
              <a:srgbClr val="DDE3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0350" y="1850827"/>
            <a:ext cx="2331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Multi-trajectory Agent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51150" y="1850827"/>
            <a:ext cx="53371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parallel trajectories + majority voting (arXiv:2506.19967)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7950" y="2152352"/>
            <a:ext cx="8128099" cy="3905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07950" y="2538115"/>
            <a:ext cx="8128099" cy="0"/>
          </a:xfrm>
          <a:prstGeom prst="line">
            <a:avLst/>
          </a:prstGeom>
          <a:noFill/>
          <a:ln w="9525">
            <a:solidFill>
              <a:srgbClr val="DDE3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0350" y="2266652"/>
            <a:ext cx="2331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Local-first Sovereignty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51150" y="2266652"/>
            <a:ext cx="53371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Entire pipeline runs on local GPU, no data sent externally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7950" y="2568178"/>
            <a:ext cx="8128099" cy="3905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07950" y="2953941"/>
            <a:ext cx="8128099" cy="0"/>
          </a:xfrm>
          <a:prstGeom prst="line">
            <a:avLst/>
          </a:prstGeom>
          <a:noFill/>
          <a:ln w="9525">
            <a:solidFill>
              <a:srgbClr val="DDE3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0350" y="2682478"/>
            <a:ext cx="2331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ViWiki-MHR Dataset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51150" y="2682478"/>
            <a:ext cx="53371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Vietnamese multi-hop dataset: KG walk + LLM rewrite + 5-layer QC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7950" y="2984004"/>
            <a:ext cx="8128099" cy="3905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507950" y="3369766"/>
            <a:ext cx="8128099" cy="0"/>
          </a:xfrm>
          <a:prstGeom prst="line">
            <a:avLst/>
          </a:prstGeom>
          <a:noFill/>
          <a:ln w="9525">
            <a:solidFill>
              <a:srgbClr val="DDE3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0350" y="3098304"/>
            <a:ext cx="2331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Typed Vietnamese KG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51150" y="3098304"/>
            <a:ext cx="53371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Neo4j with 4 entity types, 6 relation types from Vietnamese Wikipedia 2026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80877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System Architecture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556992" y="838200"/>
            <a:ext cx="20704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Question (Vietnamese)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46100" y="1263551"/>
            <a:ext cx="7251650" cy="596801"/>
          </a:xfrm>
          <a:prstGeom prst="rect">
            <a:avLst/>
          </a:prstGeom>
          <a:solidFill>
            <a:srgbClr val="1C3D5A"/>
          </a:solidFill>
          <a:ln w="19050">
            <a:solidFill>
              <a:srgbClr val="1C3D5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203911" y="1485751"/>
            <a:ext cx="67360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auth, rate-limit, job management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46100" y="1936552"/>
            <a:ext cx="7251650" cy="596801"/>
          </a:xfrm>
          <a:prstGeom prst="rect">
            <a:avLst/>
          </a:prstGeom>
          <a:solidFill>
            <a:srgbClr val="2E8B8B"/>
          </a:solidFill>
          <a:ln w="19050">
            <a:solidFill>
              <a:srgbClr val="2E8B8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203911" y="2158752"/>
            <a:ext cx="67360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Layer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complexity detect, ReAct / multi-trajectory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69950" y="2609552"/>
            <a:ext cx="1593800" cy="558701"/>
          </a:xfrm>
          <a:prstGeom prst="rect">
            <a:avLst/>
          </a:prstGeom>
          <a:solidFill>
            <a:srgbClr val="E8F4F4"/>
          </a:solidFill>
          <a:ln w="9525">
            <a:solidFill>
              <a:srgbClr val="2E8B8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367259" y="2746028"/>
            <a:ext cx="13991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BM25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fulltext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39951" y="2609552"/>
            <a:ext cx="1593949" cy="558701"/>
          </a:xfrm>
          <a:prstGeom prst="rect">
            <a:avLst/>
          </a:prstGeom>
          <a:solidFill>
            <a:srgbClr val="E8F4F4"/>
          </a:solidFill>
          <a:ln w="9525">
            <a:solidFill>
              <a:srgbClr val="2E8B8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037258" y="2746028"/>
            <a:ext cx="139933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1024-dim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10100" y="2609552"/>
            <a:ext cx="1593800" cy="558701"/>
          </a:xfrm>
          <a:prstGeom prst="rect">
            <a:avLst/>
          </a:prstGeom>
          <a:solidFill>
            <a:srgbClr val="E8F4F4"/>
          </a:solidFill>
          <a:ln w="9525">
            <a:solidFill>
              <a:srgbClr val="2E8B8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07408" y="2746028"/>
            <a:ext cx="13991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2-hop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80100" y="2609552"/>
            <a:ext cx="1593800" cy="558701"/>
          </a:xfrm>
          <a:prstGeom prst="rect">
            <a:avLst/>
          </a:prstGeom>
          <a:solidFill>
            <a:srgbClr val="E8F4F4"/>
          </a:solidFill>
          <a:ln w="9525">
            <a:solidFill>
              <a:srgbClr val="2E8B8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377409" y="2746028"/>
            <a:ext cx="13991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Louvain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46100" y="3244453"/>
            <a:ext cx="7251650" cy="596801"/>
          </a:xfrm>
          <a:prstGeom prst="rect">
            <a:avLst/>
          </a:prstGeom>
          <a:solidFill>
            <a:srgbClr val="1C3D5A"/>
          </a:solidFill>
          <a:ln w="19050">
            <a:solidFill>
              <a:srgbClr val="1C3D5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203911" y="3466654"/>
            <a:ext cx="67360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Neo4j Knowledge Graph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Page, Chunk, Person, Org, Location, Work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80877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Requirements (SRS Summary)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7950" y="685800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Requirements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7950" y="987326"/>
            <a:ext cx="8128099" cy="269677"/>
          </a:xfrm>
          <a:prstGeom prst="rect">
            <a:avLst/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451" y="1050727"/>
            <a:ext cx="569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71154" y="1050727"/>
            <a:ext cx="54156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83598" y="1050727"/>
            <a:ext cx="16839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Verifiable By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7950" y="1544092"/>
            <a:ext cx="8128099" cy="0"/>
          </a:xfrm>
          <a:prstGeom prst="line">
            <a:avLst/>
          </a:prstGeom>
          <a:noFill/>
          <a:ln w="9525">
            <a:solidFill>
              <a:srgbClr val="DDE3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9451" y="1333054"/>
            <a:ext cx="569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71154" y="1333054"/>
            <a:ext cx="54156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 Vietnamese Wikipedia articles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83598" y="1333054"/>
            <a:ext cx="16839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7950" y="1835944"/>
            <a:ext cx="8128099" cy="0"/>
          </a:xfrm>
          <a:prstGeom prst="line">
            <a:avLst/>
          </a:prstGeom>
          <a:noFill/>
          <a:ln w="9525">
            <a:solidFill>
              <a:srgbClr val="DDE3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9451" y="1624905"/>
            <a:ext cx="569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154" y="1624905"/>
            <a:ext cx="54156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single-hop factual questions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83598" y="1624905"/>
            <a:ext cx="16839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EM/F1 on ViQuAD2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7950" y="2127796"/>
            <a:ext cx="8128099" cy="0"/>
          </a:xfrm>
          <a:prstGeom prst="line">
            <a:avLst/>
          </a:prstGeom>
          <a:noFill/>
          <a:ln w="9525">
            <a:solidFill>
              <a:srgbClr val="DDE3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9451" y="1916757"/>
            <a:ext cx="569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71154" y="1916757"/>
            <a:ext cx="54156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multi-hop questions + citations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83598" y="1916757"/>
            <a:ext cx="16839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 Rate on ViWiki-MHR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7950" y="2419648"/>
            <a:ext cx="8128099" cy="0"/>
          </a:xfrm>
          <a:prstGeom prst="line">
            <a:avLst/>
          </a:prstGeom>
          <a:noFill/>
          <a:ln w="9525">
            <a:solidFill>
              <a:srgbClr val="DDE3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9451" y="2208609"/>
            <a:ext cx="569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371154" y="2208609"/>
            <a:ext cx="54156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ingest from HuggingFace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83598" y="2208609"/>
            <a:ext cx="16839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test 10K articles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7950" y="2711500"/>
            <a:ext cx="8128099" cy="0"/>
          </a:xfrm>
          <a:prstGeom prst="line">
            <a:avLst/>
          </a:prstGeom>
          <a:noFill/>
          <a:ln w="9525">
            <a:solidFill>
              <a:srgbClr val="DDE3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9451" y="2500461"/>
            <a:ext cx="569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371154" y="2500461"/>
            <a:ext cx="54156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MHQA evaluation dataset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83598" y="2500461"/>
            <a:ext cx="16839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QC pipeline pass rate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7950" y="2868662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Non-Functional Requirements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07950" y="3170188"/>
            <a:ext cx="8128099" cy="269677"/>
          </a:xfrm>
          <a:prstGeom prst="rect">
            <a:avLst/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09451" y="3233589"/>
            <a:ext cx="569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371154" y="3233589"/>
            <a:ext cx="40427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537597" y="3233589"/>
            <a:ext cx="16839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91549" y="3233589"/>
            <a:ext cx="11658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7950" y="3726954"/>
            <a:ext cx="8128099" cy="0"/>
          </a:xfrm>
          <a:prstGeom prst="line">
            <a:avLst/>
          </a:prstGeom>
          <a:noFill/>
          <a:ln w="9525">
            <a:solidFill>
              <a:srgbClr val="DDE3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9451" y="3515916"/>
            <a:ext cx="569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NFR-01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371154" y="3515916"/>
            <a:ext cx="40427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P50 latency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37597" y="3515916"/>
            <a:ext cx="16839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3s / &lt; 8s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391549" y="3515916"/>
            <a:ext cx="11658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51ms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07950" y="4018806"/>
            <a:ext cx="8128099" cy="0"/>
          </a:xfrm>
          <a:prstGeom prst="line">
            <a:avLst/>
          </a:prstGeom>
          <a:noFill/>
          <a:ln w="9525">
            <a:solidFill>
              <a:srgbClr val="DDE3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9451" y="3807768"/>
            <a:ext cx="569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NFR-02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371154" y="3807768"/>
            <a:ext cx="40427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Hit Rate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537597" y="3807768"/>
            <a:ext cx="16839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70%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391549" y="3807768"/>
            <a:ext cx="11658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64.67%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07950" y="4310658"/>
            <a:ext cx="8128099" cy="0"/>
          </a:xfrm>
          <a:prstGeom prst="line">
            <a:avLst/>
          </a:prstGeom>
          <a:noFill/>
          <a:ln w="9525">
            <a:solidFill>
              <a:srgbClr val="DDE3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9451" y="4099620"/>
            <a:ext cx="569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NFR-03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371154" y="4099620"/>
            <a:ext cx="40427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coverage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37597" y="4099620"/>
            <a:ext cx="16839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&gt;= 75%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391549" y="4099620"/>
            <a:ext cx="11658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80877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AI: Problem Framing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7950" y="685800"/>
            <a:ext cx="39898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Layers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7950" y="1455688"/>
            <a:ext cx="3911650" cy="0"/>
          </a:xfrm>
          <a:prstGeom prst="line">
            <a:avLst/>
          </a:prstGeom>
          <a:noFill/>
          <a:ln w="9525">
            <a:solidFill>
              <a:srgbClr val="DDE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9451" y="1088975"/>
            <a:ext cx="7772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74453" y="1088975"/>
            <a:ext cx="279851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Vietnamese questions need synthesis across multiple articles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7950" y="1916013"/>
            <a:ext cx="3911650" cy="0"/>
          </a:xfrm>
          <a:prstGeom prst="line">
            <a:avLst/>
          </a:prstGeom>
          <a:noFill/>
          <a:ln w="9525">
            <a:solidFill>
              <a:srgbClr val="DDE3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9451" y="1549301"/>
            <a:ext cx="7772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Task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74453" y="1549301"/>
            <a:ext cx="279851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Multi-hop KGQA: Graph-augmented RAG with typed KG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7950" y="2376339"/>
            <a:ext cx="3911650" cy="0"/>
          </a:xfrm>
          <a:prstGeom prst="line">
            <a:avLst/>
          </a:prstGeom>
          <a:noFill/>
          <a:ln w="9525">
            <a:solidFill>
              <a:srgbClr val="DDE3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9451" y="2009626"/>
            <a:ext cx="7772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74453" y="2009626"/>
            <a:ext cx="279851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-&gt; retrieve {P1..Pn} from KG G -&gt; generate A + citations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7950" y="2533501"/>
            <a:ext cx="3911650" cy="558701"/>
          </a:xfrm>
          <a:prstGeom prst="rect">
            <a:avLst/>
          </a:prstGeom>
          <a:solidFill>
            <a:srgbClr val="E8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31763" y="2533501"/>
            <a:ext cx="0" cy="558701"/>
          </a:xfrm>
          <a:prstGeom prst="line">
            <a:avLst/>
          </a:prstGeom>
          <a:noFill/>
          <a:ln w="47625">
            <a:solidFill>
              <a:srgbClr val="2E8B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3276" y="2660452"/>
            <a:ext cx="35787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Feasibility:</a:t>
            </a:r>
            <a:pPr algn="l" indent="0" marL="0">
              <a:buNone/>
            </a:pPr>
            <a:r>
              <a:rPr lang="en-US" sz="11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15 weeks, team of 4 — core pipeline operational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24400" y="685800"/>
            <a:ext cx="39898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Taxonomy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24400" y="1012775"/>
            <a:ext cx="3911650" cy="295275"/>
          </a:xfrm>
          <a:prstGeom prst="rect">
            <a:avLst/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25901" y="1088975"/>
            <a:ext cx="9067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17853" y="1088975"/>
            <a:ext cx="569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Hops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79555" y="1088975"/>
            <a:ext cx="18920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24400" y="1620738"/>
            <a:ext cx="3911650" cy="0"/>
          </a:xfrm>
          <a:prstGeom prst="line">
            <a:avLst/>
          </a:prstGeom>
          <a:noFill/>
          <a:ln w="9525">
            <a:solidFill>
              <a:srgbClr val="DDE3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5901" y="1396901"/>
            <a:ext cx="9067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17853" y="1396901"/>
            <a:ext cx="569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79555" y="1396901"/>
            <a:ext cx="18920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Born in which year?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24400" y="1938189"/>
            <a:ext cx="3911650" cy="0"/>
          </a:xfrm>
          <a:prstGeom prst="line">
            <a:avLst/>
          </a:prstGeom>
          <a:noFill/>
          <a:ln w="9525">
            <a:solidFill>
              <a:srgbClr val="DDE3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5901" y="1714351"/>
            <a:ext cx="9067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17853" y="1714351"/>
            <a:ext cx="569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679555" y="1714351"/>
            <a:ext cx="18920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did founder of [X] study?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24400" y="2255639"/>
            <a:ext cx="3911650" cy="0"/>
          </a:xfrm>
          <a:prstGeom prst="line">
            <a:avLst/>
          </a:prstGeom>
          <a:noFill/>
          <a:ln w="9525">
            <a:solidFill>
              <a:srgbClr val="DDE3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5901" y="2031802"/>
            <a:ext cx="9067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17853" y="2031802"/>
            <a:ext cx="569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2+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679555" y="2031802"/>
            <a:ext cx="18920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older: A or B?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24400" y="2573089"/>
            <a:ext cx="3911650" cy="0"/>
          </a:xfrm>
          <a:prstGeom prst="line">
            <a:avLst/>
          </a:prstGeom>
          <a:noFill/>
          <a:ln w="9525">
            <a:solidFill>
              <a:srgbClr val="DDE3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25901" y="2349252"/>
            <a:ext cx="9067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Fan-out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917853" y="2349252"/>
            <a:ext cx="569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3+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679555" y="2349252"/>
            <a:ext cx="18920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all works by [X]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80877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Dataset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7950" y="685800"/>
            <a:ext cx="8128099" cy="330101"/>
          </a:xfrm>
          <a:prstGeom prst="rect">
            <a:avLst/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901" y="774650"/>
            <a:ext cx="18134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666702" y="774650"/>
            <a:ext cx="11658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063603" y="774650"/>
            <a:ext cx="16839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68454" y="774650"/>
            <a:ext cx="25914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7950" y="1363414"/>
            <a:ext cx="8128099" cy="0"/>
          </a:xfrm>
          <a:prstGeom prst="line">
            <a:avLst/>
          </a:prstGeom>
          <a:noFill/>
          <a:ln w="9525">
            <a:solidFill>
              <a:srgbClr val="DDE3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4901" y="1117402"/>
            <a:ext cx="18134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Vietnamese Wikipedia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66702" y="1117402"/>
            <a:ext cx="11658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~590K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063603" y="1117402"/>
            <a:ext cx="16839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wikimedia/wikipedia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68454" y="1117402"/>
            <a:ext cx="25914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KG construction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7950" y="1715691"/>
            <a:ext cx="8128099" cy="0"/>
          </a:xfrm>
          <a:prstGeom prst="line">
            <a:avLst/>
          </a:prstGeom>
          <a:noFill/>
          <a:ln w="9525">
            <a:solidFill>
              <a:srgbClr val="DDE3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4901" y="1469678"/>
            <a:ext cx="18134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ViWiki-MHR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66702" y="1469678"/>
            <a:ext cx="11658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~200 pairs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63603" y="1469678"/>
            <a:ext cx="16839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KG walk + manual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68454" y="1469678"/>
            <a:ext cx="25914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Multi-hop eval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7950" y="2067967"/>
            <a:ext cx="8128099" cy="0"/>
          </a:xfrm>
          <a:prstGeom prst="line">
            <a:avLst/>
          </a:prstGeom>
          <a:noFill/>
          <a:ln w="9525">
            <a:solidFill>
              <a:srgbClr val="DDE3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4901" y="1821954"/>
            <a:ext cx="18134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UIT-ViQuAD 2.0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66702" y="1821954"/>
            <a:ext cx="11658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36,457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063603" y="1821954"/>
            <a:ext cx="16839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UIT-NLP (VLSP 2021)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68454" y="1821954"/>
            <a:ext cx="25914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7950" y="2420243"/>
            <a:ext cx="8128099" cy="0"/>
          </a:xfrm>
          <a:prstGeom prst="line">
            <a:avLst/>
          </a:prstGeom>
          <a:noFill/>
          <a:ln w="9525">
            <a:solidFill>
              <a:srgbClr val="DDE3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4901" y="2174230"/>
            <a:ext cx="18134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MHQA (generated)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666702" y="2174230"/>
            <a:ext cx="11658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700-1000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063603" y="2174230"/>
            <a:ext cx="16839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KG walk + Claude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68454" y="2174230"/>
            <a:ext cx="25914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Expanded eval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7950" y="2628156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07950" y="2929682"/>
            <a:ext cx="8128099" cy="6096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Stub filtering: &gt;= 200 chars (1.29M -&gt; ~590K articles)</a:t>
            </a:r>
            <a:endParaRPr lang="en-US" sz="110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NFC Unicode normalization</a:t>
            </a:r>
            <a:endParaRPr lang="en-US" sz="110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5-layer QC: well-formedness -&gt; grounding -&gt; dedup -&gt; answerability -&gt; schema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80877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Related Works — Paper 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7950" y="68580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GraphRAG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946100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et al., 2024 (arXiv:2404.16130)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7950" y="1266676"/>
            <a:ext cx="8128099" cy="406301"/>
          </a:xfrm>
          <a:prstGeom prst="rect">
            <a:avLst/>
          </a:prstGeom>
          <a:solidFill>
            <a:srgbClr val="E8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31763" y="1266676"/>
            <a:ext cx="0" cy="406301"/>
          </a:xfrm>
          <a:prstGeom prst="line">
            <a:avLst/>
          </a:prstGeom>
          <a:noFill/>
          <a:ln w="47625">
            <a:solidFill>
              <a:srgbClr val="2E8B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726" y="1393627"/>
            <a:ext cx="78276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Hierarchical community detection (Leiden) -&gt; pre-generate community summaries -&gt; map-reduce at query time.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7950" y="1850678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2E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result: 70-80% win rate vs naive RAG on broad queries.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7950" y="2199829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in project: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7950" y="2447479"/>
            <a:ext cx="8128099" cy="6096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Louvain community detection -&gt; assign chunks to communities</a:t>
            </a:r>
            <a:endParaRPr lang="en-US" sz="110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summaries -&gt; 4th WRRF signal (weight=0.15)</a:t>
            </a:r>
            <a:endParaRPr lang="en-US" sz="110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Improves recall for broad thematic queries about Vietnamese history/geography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80877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Related Works — Paper 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7950" y="68580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Inference-Scaled GraphRAG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946100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Thompson et al., 2025 (arXiv:2506.19967)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7950" y="1266676"/>
            <a:ext cx="8128099" cy="406301"/>
          </a:xfrm>
          <a:prstGeom prst="rect">
            <a:avLst/>
          </a:prstGeom>
          <a:solidFill>
            <a:srgbClr val="E8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31763" y="1266676"/>
            <a:ext cx="0" cy="406301"/>
          </a:xfrm>
          <a:prstGeom prst="line">
            <a:avLst/>
          </a:prstGeom>
          <a:noFill/>
          <a:ln w="47625">
            <a:solidFill>
              <a:srgbClr val="2E8B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726" y="1393627"/>
            <a:ext cx="78276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N graph traversal trajectories with temperature scaling -&gt; aggregate via majority voting.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7950" y="1850678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2E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result: +64.7% vs traditional GraphRAG; 31.44% vs 15.26% on hard multi-hop.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7950" y="2199829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in project: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7950" y="2447479"/>
            <a:ext cx="8128099" cy="6096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AGENT_N_TRAJECTORIES config — N agents run in parallel with temperature scaling</a:t>
            </a:r>
            <a:endParaRPr lang="en-US" sz="110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Majority voting -&gt; consensus answer</a:t>
            </a:r>
            <a:endParaRPr lang="en-US" sz="110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Particularly effective for comparison/fan-out question types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80877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Related Works — Paper 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7950" y="685800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UIT-ViQuAD 2.0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946100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Nguyen et al., 2020 (arXiv:2009.14725)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7950" y="1266676"/>
            <a:ext cx="8128099" cy="406301"/>
          </a:xfrm>
          <a:prstGeom prst="rect">
            <a:avLst/>
          </a:prstGeom>
          <a:solidFill>
            <a:srgbClr val="E8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31763" y="1266676"/>
            <a:ext cx="0" cy="406301"/>
          </a:xfrm>
          <a:prstGeom prst="line">
            <a:avLst/>
          </a:prstGeom>
          <a:noFill/>
          <a:ln w="47625">
            <a:solidFill>
              <a:srgbClr val="2E8B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726" y="1393627"/>
            <a:ext cx="78276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36,457 QA pairs from Vietnamese Wikipedia. Answerable + unanswerable. XLM-R achieves 77.8% EM.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7950" y="1850678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2E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SotA baseline: XLM-R 77.8% EM (answerable)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7950" y="2199829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in project: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7950" y="2447479"/>
            <a:ext cx="8128099" cy="6096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benchmark for retrieval quality evaluation</a:t>
            </a:r>
            <a:endParaRPr lang="en-US" sz="110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src/viquad_adapter.py adapts HuggingFace -&gt; eval pipeline</a:t>
            </a:r>
            <a:endParaRPr lang="en-US" sz="110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Achieved: 64.67% context hit rate (top-5) — baseline for WRRF improvement tracking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80877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AI Pipeline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7950" y="634901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7950" y="882551"/>
            <a:ext cx="8128099" cy="415826"/>
          </a:xfrm>
          <a:prstGeom prst="rect">
            <a:avLst/>
          </a:prstGeom>
          <a:solidFill>
            <a:srgbClr val="FFFFFF"/>
          </a:solidFill>
          <a:ln w="9525">
            <a:solidFill>
              <a:srgbClr val="2E8B8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20626" y="1019026"/>
            <a:ext cx="78568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Wikipedia -&gt; normalize -&gt; chunk(500/50) -&gt; NER -&gt; embed -&gt; Neo4j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1476077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(WRRF Fusion)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7950" y="1723727"/>
            <a:ext cx="8128099" cy="701576"/>
          </a:xfrm>
          <a:prstGeom prst="rect">
            <a:avLst/>
          </a:prstGeom>
          <a:solidFill>
            <a:srgbClr val="FFFFFF"/>
          </a:solidFill>
          <a:ln w="9525">
            <a:solidFill>
              <a:srgbClr val="2E8B8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20626" y="1860203"/>
            <a:ext cx="78568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 Q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20626" y="2003078"/>
            <a:ext cx="78568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BM25 (w=0.4) + Vector (w=0.4) + Graph (w=0.2) + Community (w=0.15)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20626" y="2145953"/>
            <a:ext cx="78568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 WRRF(k=60) -&gt; cross-encoder rerank -&gt; top-K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7950" y="2603004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Generation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7950" y="2850654"/>
            <a:ext cx="8128099" cy="701576"/>
          </a:xfrm>
          <a:prstGeom prst="rect">
            <a:avLst/>
          </a:prstGeom>
          <a:solidFill>
            <a:srgbClr val="FFFFFF"/>
          </a:solidFill>
          <a:ln w="9525">
            <a:solidFill>
              <a:srgbClr val="2E8B8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20626" y="2987129"/>
            <a:ext cx="78568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+ complexity detection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20626" y="3130004"/>
            <a:ext cx="78568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Simple  -&gt; ReAct (6 iter, 6 tools)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20626" y="3272879"/>
            <a:ext cx="78568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Complex -&gt; decompose -&gt; N trajectories -&gt; majority vote -&gt; A + citations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80877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Baselines &amp; Results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7950" y="685800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2E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+~20% MRR vs best baseline | Retrieval latency 51ms (ViQuAD2, 2,652 queries)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7950" y="1038225"/>
            <a:ext cx="8128099" cy="355402"/>
          </a:xfrm>
          <a:prstGeom prst="rect">
            <a:avLst/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901" y="1139726"/>
            <a:ext cx="1943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93802" y="1139726"/>
            <a:ext cx="10362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63603" y="1139726"/>
            <a:ext cx="12953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 Rate@5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587454" y="1139726"/>
            <a:ext cx="10362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7950" y="1766441"/>
            <a:ext cx="8128099" cy="0"/>
          </a:xfrm>
          <a:prstGeom prst="line">
            <a:avLst/>
          </a:prstGeom>
          <a:noFill/>
          <a:ln w="9525">
            <a:solidFill>
              <a:srgbClr val="DDE3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4901" y="1507778"/>
            <a:ext cx="1943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BM25 only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93802" y="1507778"/>
            <a:ext cx="10362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~0.35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063603" y="1507778"/>
            <a:ext cx="12953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~55%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587454" y="1507778"/>
            <a:ext cx="10362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7950" y="2144018"/>
            <a:ext cx="8128099" cy="0"/>
          </a:xfrm>
          <a:prstGeom prst="line">
            <a:avLst/>
          </a:prstGeom>
          <a:noFill/>
          <a:ln w="9525">
            <a:solidFill>
              <a:srgbClr val="DDE3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4901" y="1885355"/>
            <a:ext cx="1943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only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93802" y="1885355"/>
            <a:ext cx="10362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~0.40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063603" y="1885355"/>
            <a:ext cx="12953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~60%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587454" y="1885355"/>
            <a:ext cx="10362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7950" y="2521595"/>
            <a:ext cx="8128099" cy="0"/>
          </a:xfrm>
          <a:prstGeom prst="line">
            <a:avLst/>
          </a:prstGeom>
          <a:noFill/>
          <a:ln w="9525">
            <a:solidFill>
              <a:srgbClr val="DDE3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4901" y="2262932"/>
            <a:ext cx="1943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Naive RAG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93802" y="2262932"/>
            <a:ext cx="10362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~0.42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063603" y="2262932"/>
            <a:ext cx="12953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~62%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87454" y="2262932"/>
            <a:ext cx="10362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7950" y="2899172"/>
            <a:ext cx="8128099" cy="0"/>
          </a:xfrm>
          <a:prstGeom prst="line">
            <a:avLst/>
          </a:prstGeom>
          <a:noFill/>
          <a:ln w="9525">
            <a:solidFill>
              <a:srgbClr val="DDE3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4901" y="2640509"/>
            <a:ext cx="1943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BM25 + Vector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93802" y="2640509"/>
            <a:ext cx="10362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~0.48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063603" y="2640509"/>
            <a:ext cx="12953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~66%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587454" y="2640509"/>
            <a:ext cx="10362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7950" y="2916585"/>
            <a:ext cx="8128099" cy="355402"/>
          </a:xfrm>
          <a:prstGeom prst="rect">
            <a:avLst/>
          </a:prstGeom>
          <a:solidFill>
            <a:srgbClr val="E8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34901" y="3018086"/>
            <a:ext cx="1943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Ours (WRRF+Rerank)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793802" y="3018086"/>
            <a:ext cx="10362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0.4497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063603" y="3018086"/>
            <a:ext cx="12953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64.67%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587454" y="3018086"/>
            <a:ext cx="10362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51ms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7950" y="3449687"/>
            <a:ext cx="8128099" cy="406301"/>
          </a:xfrm>
          <a:prstGeom prst="rect">
            <a:avLst/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531763" y="3449687"/>
            <a:ext cx="0" cy="406301"/>
          </a:xfrm>
          <a:prstGeom prst="line">
            <a:avLst/>
          </a:prstGeom>
          <a:noFill/>
          <a:ln w="47625">
            <a:solidFill>
              <a:srgbClr val="E67E2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8726" y="3576638"/>
            <a:ext cx="78276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 Rate below 70% target — full ingestion needed for sufficient entity coverage in KG.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80877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Team Assignment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7950" y="685800"/>
            <a:ext cx="8128099" cy="355402"/>
          </a:xfrm>
          <a:prstGeom prst="rect">
            <a:avLst/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901" y="787301"/>
            <a:ext cx="18134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666702" y="787301"/>
            <a:ext cx="10362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936504" y="787301"/>
            <a:ext cx="46640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Responsibility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7950" y="1414016"/>
            <a:ext cx="8128099" cy="0"/>
          </a:xfrm>
          <a:prstGeom prst="line">
            <a:avLst/>
          </a:prstGeom>
          <a:noFill/>
          <a:ln w="9525">
            <a:solidFill>
              <a:srgbClr val="DDE3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4901" y="1155353"/>
            <a:ext cx="18134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Huynh Quoc Trung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66702" y="1155353"/>
            <a:ext cx="10362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QE180038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936504" y="1155353"/>
            <a:ext cx="46640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KG Construction, NER (6 backends), Entity Resolution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7950" y="1791593"/>
            <a:ext cx="8128099" cy="0"/>
          </a:xfrm>
          <a:prstGeom prst="line">
            <a:avLst/>
          </a:prstGeom>
          <a:noFill/>
          <a:ln w="9525">
            <a:solidFill>
              <a:srgbClr val="DDE3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4901" y="1532930"/>
            <a:ext cx="18134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Nhu Quang Anh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66702" y="1532930"/>
            <a:ext cx="10362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QE180005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36504" y="1532930"/>
            <a:ext cx="46640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WRRF Retrieval, Reranker, Evaluation Pipeline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7950" y="2169170"/>
            <a:ext cx="8128099" cy="0"/>
          </a:xfrm>
          <a:prstGeom prst="line">
            <a:avLst/>
          </a:prstGeom>
          <a:noFill/>
          <a:ln w="9525">
            <a:solidFill>
              <a:srgbClr val="DDE3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4901" y="1910507"/>
            <a:ext cx="18134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Pham Ngo Dinh Khoi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66702" y="1910507"/>
            <a:ext cx="10362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QE180110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936504" y="1910507"/>
            <a:ext cx="46640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Agent, Local LLM, MHQA Dataset Gen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7950" y="2546747"/>
            <a:ext cx="8128099" cy="0"/>
          </a:xfrm>
          <a:prstGeom prst="line">
            <a:avLst/>
          </a:prstGeom>
          <a:noFill/>
          <a:ln w="9525">
            <a:solidFill>
              <a:srgbClr val="DDE3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4901" y="2288084"/>
            <a:ext cx="18134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Truong Dinh Thien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66702" y="2288084"/>
            <a:ext cx="10362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QE180018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936504" y="2288084"/>
            <a:ext cx="46640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FastAPI, Job Management, Gradio Demo, Deploy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7950" y="2754660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Chain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7950" y="3027611"/>
            <a:ext cx="8128099" cy="457200"/>
          </a:xfrm>
          <a:prstGeom prst="rect">
            <a:avLst/>
          </a:prstGeom>
          <a:solidFill>
            <a:srgbClr val="E8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531763" y="3027611"/>
            <a:ext cx="0" cy="457200"/>
          </a:xfrm>
          <a:prstGeom prst="line">
            <a:avLst/>
          </a:prstGeom>
          <a:noFill/>
          <a:ln w="47625">
            <a:solidFill>
              <a:srgbClr val="2E8B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726" y="3180011"/>
            <a:ext cx="78276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 (Trung) -&gt; Entity quality -&gt; Graph signal (Anh) -&gt; Agent tools (Khoi) -&gt; FastAPI (Thien)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80877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System Scale &amp; Timeline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7950" y="685800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200" b="1" dirty="0">
                <a:solidFill>
                  <a:srgbClr val="2E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UCP = 96.5 (UUCP=134, TCF=0.9, ECF=0.8) — Feasible in 15 weeks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7950" y="1034951"/>
            <a:ext cx="8128099" cy="355402"/>
          </a:xfrm>
          <a:prstGeom prst="rect">
            <a:avLst/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0350" y="1136452"/>
            <a:ext cx="7772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27150" y="1136452"/>
            <a:ext cx="52853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213699" y="1136452"/>
            <a:ext cx="12953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7950" y="1763167"/>
            <a:ext cx="8128099" cy="0"/>
          </a:xfrm>
          <a:prstGeom prst="line">
            <a:avLst/>
          </a:prstGeom>
          <a:noFill/>
          <a:ln w="9525">
            <a:solidFill>
              <a:srgbClr val="DDE3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0350" y="1504504"/>
            <a:ext cx="7772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27150" y="1504504"/>
            <a:ext cx="52853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pipeline + SRS + Architecture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213699" y="1504504"/>
            <a:ext cx="12953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7950" y="2140744"/>
            <a:ext cx="8128099" cy="0"/>
          </a:xfrm>
          <a:prstGeom prst="line">
            <a:avLst/>
          </a:prstGeom>
          <a:noFill/>
          <a:ln w="9525">
            <a:solidFill>
              <a:srgbClr val="DDE3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0350" y="1882080"/>
            <a:ext cx="7772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5-7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27150" y="1882080"/>
            <a:ext cx="52853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ingestion + Ablation + MHQA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213699" y="1882080"/>
            <a:ext cx="12953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7950" y="2518321"/>
            <a:ext cx="8128099" cy="0"/>
          </a:xfrm>
          <a:prstGeom prst="line">
            <a:avLst/>
          </a:prstGeom>
          <a:noFill/>
          <a:ln w="9525">
            <a:solidFill>
              <a:srgbClr val="DDE3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0350" y="2259657"/>
            <a:ext cx="7772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8-10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727150" y="2259657"/>
            <a:ext cx="52853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QLoRA Text2Cypher + DPO alignment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213699" y="2259657"/>
            <a:ext cx="12953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7950" y="2895898"/>
            <a:ext cx="8128099" cy="0"/>
          </a:xfrm>
          <a:prstGeom prst="line">
            <a:avLst/>
          </a:prstGeom>
          <a:noFill/>
          <a:ln w="9525">
            <a:solidFill>
              <a:srgbClr val="DDE3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0350" y="2637234"/>
            <a:ext cx="7772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11-13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727150" y="2637234"/>
            <a:ext cx="52853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WRRF tuning + final evaluation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13699" y="2637234"/>
            <a:ext cx="12953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7950" y="3273475"/>
            <a:ext cx="8128099" cy="0"/>
          </a:xfrm>
          <a:prstGeom prst="line">
            <a:avLst/>
          </a:prstGeom>
          <a:noFill/>
          <a:ln w="9525">
            <a:solidFill>
              <a:srgbClr val="DDE3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0350" y="3014811"/>
            <a:ext cx="7772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14-15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727150" y="3014811"/>
            <a:ext cx="52853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report + demo + defense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13699" y="3014811"/>
            <a:ext cx="12953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80877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 Security &amp; Legal Compliance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7950" y="685800"/>
            <a:ext cx="39898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Requirements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7950" y="1012775"/>
            <a:ext cx="3911650" cy="295275"/>
          </a:xfrm>
          <a:prstGeom prst="rect">
            <a:avLst/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451" y="1088975"/>
            <a:ext cx="7512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49003" y="1088975"/>
            <a:ext cx="9334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667149" y="1088975"/>
            <a:ext cx="16839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By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7950" y="2192238"/>
            <a:ext cx="3911650" cy="0"/>
          </a:xfrm>
          <a:prstGeom prst="line">
            <a:avLst/>
          </a:prstGeom>
          <a:noFill/>
          <a:ln w="9525">
            <a:solidFill>
              <a:srgbClr val="DDE3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9451" y="1396901"/>
            <a:ext cx="7512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NFR-10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549003" y="1396901"/>
            <a:ext cx="933447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key auth — protected endpoints require bearer token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67149" y="1396901"/>
            <a:ext cx="16839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401 test without key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7950" y="3224064"/>
            <a:ext cx="3911650" cy="0"/>
          </a:xfrm>
          <a:prstGeom prst="line">
            <a:avLst/>
          </a:prstGeom>
          <a:noFill/>
          <a:ln w="9525">
            <a:solidFill>
              <a:srgbClr val="DDE3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9451" y="2285851"/>
            <a:ext cx="7512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NFR-11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49003" y="2285851"/>
            <a:ext cx="933447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Cypher injection prevention — write keywords blocklisted in generated queries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67149" y="2285851"/>
            <a:ext cx="168396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 DELETE in question, verify blocked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7950" y="3827264"/>
            <a:ext cx="3911650" cy="0"/>
          </a:xfrm>
          <a:prstGeom prst="line">
            <a:avLst/>
          </a:prstGeom>
          <a:noFill/>
          <a:ln w="9525">
            <a:solidFill>
              <a:srgbClr val="DDE3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9451" y="3317677"/>
            <a:ext cx="7512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NFR-12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549003" y="3317677"/>
            <a:ext cx="93344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limiting — 120 req/min per client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67149" y="3317677"/>
            <a:ext cx="16839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429 response on exceed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7950" y="3958977"/>
            <a:ext cx="3911650" cy="488752"/>
          </a:xfrm>
          <a:prstGeom prst="rect">
            <a:avLst/>
          </a:prstGeom>
          <a:solidFill>
            <a:srgbClr val="E8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531763" y="3958977"/>
            <a:ext cx="0" cy="488752"/>
          </a:xfrm>
          <a:prstGeom prst="line">
            <a:avLst/>
          </a:prstGeom>
          <a:noFill/>
          <a:ln w="47625">
            <a:solidFill>
              <a:srgbClr val="2E8B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7975" y="4060478"/>
            <a:ext cx="36304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PII processed.</a:t>
            </a:r>
            <a:pPr algn="l" indent="0" marL="0">
              <a:buNone/>
            </a:pPr>
            <a:r>
              <a:rPr lang="en-US" sz="10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System ingests public encyclopedia articles only.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24400" y="685800"/>
            <a:ext cx="39898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Privacy &amp; Legal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24400" y="1741438"/>
            <a:ext cx="3911650" cy="0"/>
          </a:xfrm>
          <a:prstGeom prst="line">
            <a:avLst/>
          </a:prstGeom>
          <a:noFill/>
          <a:ln w="9525">
            <a:solidFill>
              <a:srgbClr val="DDE3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5901" y="1088975"/>
            <a:ext cx="7512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765453" y="1088975"/>
            <a:ext cx="93344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Vietnamese Wikipedia — CC-BY-SA 3.0 license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24400" y="2630388"/>
            <a:ext cx="3911650" cy="0"/>
          </a:xfrm>
          <a:prstGeom prst="line">
            <a:avLst/>
          </a:prstGeom>
          <a:noFill/>
          <a:ln w="9525">
            <a:solidFill>
              <a:srgbClr val="DDE3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5901" y="1835051"/>
            <a:ext cx="7512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765453" y="1835051"/>
            <a:ext cx="933447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page_title + page_url stored with every chunk, returned in API response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24400" y="3233589"/>
            <a:ext cx="3911650" cy="0"/>
          </a:xfrm>
          <a:prstGeom prst="line">
            <a:avLst/>
          </a:prstGeom>
          <a:noFill/>
          <a:ln w="9525">
            <a:solidFill>
              <a:srgbClr val="DDE3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5901" y="2724001"/>
            <a:ext cx="75128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Derived data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765453" y="2724001"/>
            <a:ext cx="93344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QA datasets inherit CC-BY-SA 3.0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24400" y="4265414"/>
            <a:ext cx="3911650" cy="0"/>
          </a:xfrm>
          <a:prstGeom prst="line">
            <a:avLst/>
          </a:prstGeom>
          <a:noFill/>
          <a:ln w="9525">
            <a:solidFill>
              <a:srgbClr val="DDE3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25901" y="3327202"/>
            <a:ext cx="7512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765453" y="3327202"/>
            <a:ext cx="933447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Vi-Qwen2-7B-RAG, GreenNode, bge-reranker — Apache 2.0 / MIT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24400" y="4397127"/>
            <a:ext cx="3911650" cy="488752"/>
          </a:xfrm>
          <a:prstGeom prst="rect">
            <a:avLst/>
          </a:prstGeom>
          <a:solidFill>
            <a:srgbClr val="E8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4748213" y="4397127"/>
            <a:ext cx="0" cy="488752"/>
          </a:xfrm>
          <a:prstGeom prst="line">
            <a:avLst/>
          </a:prstGeom>
          <a:noFill/>
          <a:ln w="47625">
            <a:solidFill>
              <a:srgbClr val="2E8B8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24425" y="4498628"/>
            <a:ext cx="36304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Compliance:</a:t>
            </a:r>
            <a:pPr algn="l" indent="0" marL="0">
              <a:buNone/>
            </a:pPr>
            <a:r>
              <a:rPr lang="en-US" sz="10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proprietary data, no user PII, attribution satisfied per CC-BY-SA.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77701"/>
            <a:ext cx="880877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 Model Selection &amp; Metric Justification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7950" y="685800"/>
            <a:ext cx="39898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Vi-Qwen2-7B-RAG?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7950" y="1012775"/>
            <a:ext cx="3911650" cy="269677"/>
          </a:xfrm>
          <a:prstGeom prst="rect">
            <a:avLst/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451" y="1076176"/>
            <a:ext cx="15544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336453" y="1076176"/>
            <a:ext cx="20212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7950" y="1295102"/>
            <a:ext cx="3911650" cy="707827"/>
          </a:xfrm>
          <a:prstGeom prst="rect">
            <a:avLst/>
          </a:prstGeom>
          <a:solidFill>
            <a:srgbClr val="E8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07950" y="1998166"/>
            <a:ext cx="3911650" cy="0"/>
          </a:xfrm>
          <a:prstGeom prst="line">
            <a:avLst/>
          </a:prstGeom>
          <a:noFill/>
          <a:ln w="9525">
            <a:solidFill>
              <a:srgbClr val="2E8B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9451" y="1358503"/>
            <a:ext cx="15544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Vi-Qwen2-7B-RAG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336453" y="1358503"/>
            <a:ext cx="202127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— purpose-built for Vietnamese RAG, fits 8GB GPU (NF4 quant), best extractive QA in pilot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7950" y="2432893"/>
            <a:ext cx="3911650" cy="0"/>
          </a:xfrm>
          <a:prstGeom prst="line">
            <a:avLst/>
          </a:prstGeom>
          <a:noFill/>
          <a:ln w="9525">
            <a:solidFill>
              <a:srgbClr val="DDE3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9451" y="2078980"/>
            <a:ext cx="15544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Vistral-7B-Chat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36453" y="2078980"/>
            <a:ext cx="202127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 — general chat model, not optimized for extraction tasks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7950" y="3010495"/>
            <a:ext cx="3911650" cy="0"/>
          </a:xfrm>
          <a:prstGeom prst="line">
            <a:avLst/>
          </a:prstGeom>
          <a:noFill/>
          <a:ln w="9525">
            <a:solidFill>
              <a:srgbClr val="DDE3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9451" y="2513707"/>
            <a:ext cx="15544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Sailor-7B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336453" y="2513707"/>
            <a:ext cx="202127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 — multilingual SEA model, weaker Vietnamese factuality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7950" y="3588097"/>
            <a:ext cx="3911650" cy="0"/>
          </a:xfrm>
          <a:prstGeom prst="line">
            <a:avLst/>
          </a:prstGeom>
          <a:noFill/>
          <a:ln w="9525">
            <a:solidFill>
              <a:srgbClr val="DDE3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9451" y="3091309"/>
            <a:ext cx="15544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 / Gemini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336453" y="3091309"/>
            <a:ext cx="202127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 — rate limits conflict with multi-trajectory voting; offline eval needed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24400" y="685800"/>
            <a:ext cx="39898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These Metric Targets?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24400" y="1012775"/>
            <a:ext cx="60448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 Rate &gt; 70%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18534" y="1012775"/>
            <a:ext cx="328186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baseline (BM25+Vector) = 66%. +4% proves graph signal value. GraphRAG literature (MS 2024) reports +5-15% over dense-only.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24400" y="1530251"/>
            <a:ext cx="65746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MRR &gt; 0.50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70475" y="1530251"/>
            <a:ext cx="322888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MRR ~0.48. Modest but verifiable; aligned with BEIR benchmark norms for domain-specific Vietnamese retrieval.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24400" y="2047726"/>
            <a:ext cx="84949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&gt; 30%, F1 &gt; 50%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58743" y="2047726"/>
            <a:ext cx="303685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 UIT-ViQuAD 2.0 leaderboard: top XLM-R systems achieve ~35% EM, ~65% F1.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24400" y="2460427"/>
            <a:ext cx="3911650" cy="488752"/>
          </a:xfrm>
          <a:prstGeom prst="rect">
            <a:avLst/>
          </a:prstGeom>
          <a:solidFill>
            <a:srgbClr val="E8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748213" y="2460427"/>
            <a:ext cx="0" cy="488752"/>
          </a:xfrm>
          <a:prstGeom prst="line">
            <a:avLst/>
          </a:prstGeom>
          <a:noFill/>
          <a:ln w="47625">
            <a:solidFill>
              <a:srgbClr val="2E8B8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24425" y="2561927"/>
            <a:ext cx="36304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Current:</a:t>
            </a:r>
            <a:pPr algn="l" indent="0" marL="0">
              <a:buNone/>
            </a:pPr>
            <a:r>
              <a:rPr lang="en-US" sz="1000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Hit Rate = 64.67% (gap to 70% targeted W8-10), MRR = ~0.52 (target met).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C3D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2E8B8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297287" y="1741438"/>
            <a:ext cx="2600414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244453" y="2525613"/>
            <a:ext cx="27081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0"/>
              </a:spcAft>
              <a:buNone/>
            </a:pPr>
            <a:r>
              <a:rPr lang="en-US" sz="2200" dirty="0">
                <a:solidFill>
                  <a:srgbClr val="7E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Answers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186136" y="3230463"/>
            <a:ext cx="486716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Vietnamese GraphRAG — Capstone Review 1 — FPT University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Vietnamese GraphRAG - Capstone Review 1</dc:title>
  <dc:subject>PptxGenJS Presentation</dc:subject>
  <dc:creator>Huynh Quoc Trung</dc:creator>
  <cp:lastModifiedBy>Huynh Quoc Trung</cp:lastModifiedBy>
  <cp:revision>1</cp:revision>
  <dcterms:created xsi:type="dcterms:W3CDTF">2026-06-11T06:59:14Z</dcterms:created>
  <dcterms:modified xsi:type="dcterms:W3CDTF">2026-06-11T06:59:14Z</dcterms:modified>
</cp:coreProperties>
</file>